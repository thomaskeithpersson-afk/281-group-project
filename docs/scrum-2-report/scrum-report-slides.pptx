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g3d0b7f2bb3a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 name="Google Shape;22;g3d0b7f2bb3a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g3d0b7f2bb3a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0b7f2bb3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0b7f2bb3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g3d0b7f2bb3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0b7f2bb3a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0b7f2bb3a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3d0b7f2bb3a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0b7f2bb3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0b7f2bb3a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g3d0b7f2bb3a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0b7f2bb3a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0b7f2bb3a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3d0b7f2bb3a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node.js/Expres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7F64"/>
        </a:solidFill>
      </p:bgPr>
    </p:bg>
    <p:spTree>
      <p:nvGrpSpPr>
        <p:cNvPr id="15" name="Shape 15"/>
        <p:cNvGrpSpPr/>
        <p:nvPr/>
      </p:nvGrpSpPr>
      <p:grpSpPr>
        <a:xfrm>
          <a:off x="0" y="0"/>
          <a:ext cx="0" cy="0"/>
          <a:chOff x="0" y="0"/>
          <a:chExt cx="0" cy="0"/>
        </a:xfrm>
      </p:grpSpPr>
      <p:sp>
        <p:nvSpPr>
          <p:cNvPr id="16" name="Google Shape;16;p3"/>
          <p:cNvSpPr/>
          <p:nvPr/>
        </p:nvSpPr>
        <p:spPr>
          <a:xfrm>
            <a:off x="457200" y="118872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800"/>
              <a:buFont typeface="Arial"/>
              <a:buNone/>
            </a:pPr>
            <a:r>
              <a:rPr b="1" i="0" lang="en-US" sz="6800" u="none" cap="none" strike="noStrike">
                <a:solidFill>
                  <a:srgbClr val="FFFFFF"/>
                </a:solidFill>
                <a:latin typeface="Arial"/>
                <a:ea typeface="Arial"/>
                <a:cs typeface="Arial"/>
                <a:sym typeface="Arial"/>
              </a:rPr>
              <a:t>BOOKEXCHANGE</a:t>
            </a:r>
            <a:endParaRPr b="0" i="0" sz="6800" u="none" cap="none" strike="noStrike">
              <a:solidFill>
                <a:schemeClr val="dk1"/>
              </a:solidFill>
              <a:latin typeface="Calibri"/>
              <a:ea typeface="Calibri"/>
              <a:cs typeface="Calibri"/>
              <a:sym typeface="Calibri"/>
            </a:endParaRPr>
          </a:p>
        </p:txBody>
      </p:sp>
      <p:cxnSp>
        <p:nvCxnSpPr>
          <p:cNvPr id="17" name="Google Shape;17;p3"/>
          <p:cNvCxnSpPr/>
          <p:nvPr/>
        </p:nvCxnSpPr>
        <p:spPr>
          <a:xfrm>
            <a:off x="731520" y="2011680"/>
            <a:ext cx="7680960" cy="0"/>
          </a:xfrm>
          <a:prstGeom prst="straightConnector1">
            <a:avLst/>
          </a:prstGeom>
          <a:noFill/>
          <a:ln cap="flat" cmpd="sng" w="25400">
            <a:solidFill>
              <a:srgbClr val="FFFFFF"/>
            </a:solidFill>
            <a:prstDash val="dash"/>
            <a:round/>
            <a:headEnd len="sm" w="sm" type="none"/>
            <a:tailEnd len="sm" w="sm" type="none"/>
          </a:ln>
        </p:spPr>
      </p:cxnSp>
      <p:sp>
        <p:nvSpPr>
          <p:cNvPr id="18" name="Google Shape;18;p3"/>
          <p:cNvSpPr/>
          <p:nvPr/>
        </p:nvSpPr>
        <p:spPr>
          <a:xfrm>
            <a:off x="457200" y="237744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Connecting Students. Saving Money. Reusing Books.</a:t>
            </a:r>
            <a:endParaRPr b="0" i="0" sz="2400" u="none" cap="none" strike="noStrike">
              <a:solidFill>
                <a:schemeClr val="dk1"/>
              </a:solidFill>
              <a:latin typeface="Calibri"/>
              <a:ea typeface="Calibri"/>
              <a:cs typeface="Calibri"/>
              <a:sym typeface="Calibri"/>
            </a:endParaRPr>
          </a:p>
        </p:txBody>
      </p:sp>
      <p:sp>
        <p:nvSpPr>
          <p:cNvPr id="19" name="Google Shape;19;p3"/>
          <p:cNvSpPr/>
          <p:nvPr/>
        </p:nvSpPr>
        <p:spPr>
          <a:xfrm>
            <a:off x="457200" y="411480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ENSE 281 | Scrum </a:t>
            </a:r>
            <a:r>
              <a:rPr lang="en-US" sz="1600">
                <a:solidFill>
                  <a:srgbClr val="FFFFFF"/>
                </a:solidFill>
              </a:rPr>
              <a:t>2</a:t>
            </a:r>
            <a:r>
              <a:rPr b="0" i="0" lang="en-US" sz="1600" u="none" cap="none" strike="noStrike">
                <a:solidFill>
                  <a:srgbClr val="FFFFFF"/>
                </a:solidFill>
                <a:latin typeface="Arial"/>
                <a:ea typeface="Arial"/>
                <a:cs typeface="Arial"/>
                <a:sym typeface="Arial"/>
              </a:rPr>
              <a:t> Presentation| March </a:t>
            </a:r>
            <a:r>
              <a:rPr lang="en-US" sz="1600">
                <a:solidFill>
                  <a:srgbClr val="FFFFFF"/>
                </a:solidFill>
              </a:rPr>
              <a:t>18</a:t>
            </a:r>
            <a:r>
              <a:rPr b="0" i="0" lang="en-US" sz="1600" u="none" cap="none" strike="noStrike">
                <a:solidFill>
                  <a:srgbClr val="FFFFFF"/>
                </a:solidFill>
                <a:latin typeface="Arial"/>
                <a:ea typeface="Arial"/>
                <a:cs typeface="Arial"/>
                <a:sym typeface="Arial"/>
              </a:rPr>
              <a:t>, 2026</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4"/>
          <p:cNvSpPr/>
          <p:nvPr/>
        </p:nvSpPr>
        <p:spPr>
          <a:xfrm>
            <a:off x="370950" y="29002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lang="en-US" sz="3200">
                <a:solidFill>
                  <a:srgbClr val="1A7F64"/>
                </a:solidFill>
              </a:rPr>
              <a:t>QR Code:</a:t>
            </a:r>
            <a:endParaRPr b="0" i="0" sz="3200" u="none" cap="none" strike="noStrike">
              <a:solidFill>
                <a:schemeClr val="dk1"/>
              </a:solidFill>
              <a:latin typeface="Calibri"/>
              <a:ea typeface="Calibri"/>
              <a:cs typeface="Calibri"/>
              <a:sym typeface="Calibri"/>
            </a:endParaRPr>
          </a:p>
        </p:txBody>
      </p:sp>
      <p:sp>
        <p:nvSpPr>
          <p:cNvPr id="26" name="Google Shape;26;p4"/>
          <p:cNvSpPr/>
          <p:nvPr/>
        </p:nvSpPr>
        <p:spPr>
          <a:xfrm>
            <a:off x="2603113" y="1223122"/>
            <a:ext cx="3543900" cy="3575400"/>
          </a:xfrm>
          <a:prstGeom prst="rect">
            <a:avLst/>
          </a:prstGeom>
          <a:solidFill>
            <a:srgbClr val="1A7F64"/>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A7F64"/>
              </a:solidFill>
              <a:highlight>
                <a:srgbClr val="1A7F64"/>
              </a:highlight>
            </a:endParaRPr>
          </a:p>
        </p:txBody>
      </p:sp>
      <p:pic>
        <p:nvPicPr>
          <p:cNvPr id="27" name="Google Shape;27;p4"/>
          <p:cNvPicPr preferRelativeResize="0"/>
          <p:nvPr/>
        </p:nvPicPr>
        <p:blipFill>
          <a:blip r:embed="rId3">
            <a:alphaModFix/>
          </a:blip>
          <a:stretch>
            <a:fillRect/>
          </a:stretch>
        </p:blipFill>
        <p:spPr>
          <a:xfrm>
            <a:off x="2836763" y="1420150"/>
            <a:ext cx="3076575" cy="3181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5"/>
          <p:cNvSpPr/>
          <p:nvPr/>
        </p:nvSpPr>
        <p:spPr>
          <a:xfrm>
            <a:off x="457200" y="2743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i="0" lang="en-US" sz="3200" u="none" cap="none" strike="noStrike">
                <a:solidFill>
                  <a:srgbClr val="1A7F64"/>
                </a:solidFill>
                <a:latin typeface="Arial"/>
                <a:ea typeface="Arial"/>
                <a:cs typeface="Arial"/>
                <a:sym typeface="Arial"/>
              </a:rPr>
              <a:t>Meet the Team</a:t>
            </a:r>
            <a:endParaRPr b="0" i="0" sz="3200" u="none" cap="none" strike="noStrike">
              <a:solidFill>
                <a:schemeClr val="dk1"/>
              </a:solidFill>
              <a:latin typeface="Calibri"/>
              <a:ea typeface="Calibri"/>
              <a:cs typeface="Calibri"/>
              <a:sym typeface="Calibri"/>
            </a:endParaRPr>
          </a:p>
        </p:txBody>
      </p:sp>
      <p:sp>
        <p:nvSpPr>
          <p:cNvPr id="34" name="Google Shape;34;p5"/>
          <p:cNvSpPr/>
          <p:nvPr/>
        </p:nvSpPr>
        <p:spPr>
          <a:xfrm>
            <a:off x="457200" y="1097280"/>
            <a:ext cx="2011680" cy="320040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457200" y="1371600"/>
            <a:ext cx="20116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Thomas P.</a:t>
            </a:r>
            <a:endParaRPr b="0" i="0" sz="1800" u="none" cap="none" strike="noStrike">
              <a:solidFill>
                <a:schemeClr val="dk1"/>
              </a:solidFill>
              <a:latin typeface="Calibri"/>
              <a:ea typeface="Calibri"/>
              <a:cs typeface="Calibri"/>
              <a:sym typeface="Calibri"/>
            </a:endParaRPr>
          </a:p>
        </p:txBody>
      </p:sp>
      <p:sp>
        <p:nvSpPr>
          <p:cNvPr id="36" name="Google Shape;36;p5"/>
          <p:cNvSpPr/>
          <p:nvPr/>
        </p:nvSpPr>
        <p:spPr>
          <a:xfrm>
            <a:off x="457200" y="1920240"/>
            <a:ext cx="201168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GitHub Administrator</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Frontend Developer</a:t>
            </a:r>
            <a:endParaRPr b="0" i="0" sz="1200" u="none" cap="none" strike="noStrike">
              <a:solidFill>
                <a:schemeClr val="dk1"/>
              </a:solidFill>
              <a:latin typeface="Calibri"/>
              <a:ea typeface="Calibri"/>
              <a:cs typeface="Calibri"/>
              <a:sym typeface="Calibri"/>
            </a:endParaRPr>
          </a:p>
        </p:txBody>
      </p:sp>
      <p:sp>
        <p:nvSpPr>
          <p:cNvPr id="37" name="Google Shape;37;p5"/>
          <p:cNvSpPr/>
          <p:nvPr/>
        </p:nvSpPr>
        <p:spPr>
          <a:xfrm>
            <a:off x="2560320" y="1097280"/>
            <a:ext cx="2011680" cy="320040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2560320" y="1371600"/>
            <a:ext cx="20116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Chop Peter</a:t>
            </a:r>
            <a:endParaRPr b="0" i="0" sz="1800" u="none" cap="none" strike="noStrike">
              <a:solidFill>
                <a:schemeClr val="dk1"/>
              </a:solidFill>
              <a:latin typeface="Calibri"/>
              <a:ea typeface="Calibri"/>
              <a:cs typeface="Calibri"/>
              <a:sym typeface="Calibri"/>
            </a:endParaRPr>
          </a:p>
        </p:txBody>
      </p:sp>
      <p:sp>
        <p:nvSpPr>
          <p:cNvPr id="39" name="Google Shape;39;p5"/>
          <p:cNvSpPr/>
          <p:nvPr/>
        </p:nvSpPr>
        <p:spPr>
          <a:xfrm>
            <a:off x="2560320" y="1920240"/>
            <a:ext cx="201168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Project Manager</a:t>
            </a:r>
            <a:endParaRPr b="0" i="0" sz="1200" u="none" cap="none" strike="noStrike">
              <a:solidFill>
                <a:schemeClr val="dk1"/>
              </a:solidFill>
              <a:latin typeface="Calibri"/>
              <a:ea typeface="Calibri"/>
              <a:cs typeface="Calibri"/>
              <a:sym typeface="Calibri"/>
            </a:endParaRPr>
          </a:p>
        </p:txBody>
      </p:sp>
      <p:sp>
        <p:nvSpPr>
          <p:cNvPr id="40" name="Google Shape;40;p5"/>
          <p:cNvSpPr/>
          <p:nvPr/>
        </p:nvSpPr>
        <p:spPr>
          <a:xfrm>
            <a:off x="4663440" y="1097280"/>
            <a:ext cx="2011680" cy="320040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4663440" y="1371600"/>
            <a:ext cx="20116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David</a:t>
            </a:r>
            <a:endParaRPr b="0" i="0" sz="1800" u="none" cap="none" strike="noStrike">
              <a:solidFill>
                <a:schemeClr val="dk1"/>
              </a:solidFill>
              <a:latin typeface="Calibri"/>
              <a:ea typeface="Calibri"/>
              <a:cs typeface="Calibri"/>
              <a:sym typeface="Calibri"/>
            </a:endParaRPr>
          </a:p>
        </p:txBody>
      </p:sp>
      <p:sp>
        <p:nvSpPr>
          <p:cNvPr id="42" name="Google Shape;42;p5"/>
          <p:cNvSpPr/>
          <p:nvPr/>
        </p:nvSpPr>
        <p:spPr>
          <a:xfrm>
            <a:off x="4663440" y="1920240"/>
            <a:ext cx="201168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Lead Developer</a:t>
            </a:r>
            <a:endParaRPr b="0" i="0" sz="1200" u="none" cap="none" strike="noStrike">
              <a:solidFill>
                <a:schemeClr val="dk1"/>
              </a:solidFill>
              <a:latin typeface="Calibri"/>
              <a:ea typeface="Calibri"/>
              <a:cs typeface="Calibri"/>
              <a:sym typeface="Calibri"/>
            </a:endParaRPr>
          </a:p>
        </p:txBody>
      </p:sp>
      <p:sp>
        <p:nvSpPr>
          <p:cNvPr id="43" name="Google Shape;43;p5"/>
          <p:cNvSpPr/>
          <p:nvPr/>
        </p:nvSpPr>
        <p:spPr>
          <a:xfrm>
            <a:off x="6766560" y="1097280"/>
            <a:ext cx="2011680" cy="320040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6766560" y="1371600"/>
            <a:ext cx="20116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Shaikh</a:t>
            </a:r>
            <a:endParaRPr b="0" i="0" sz="1800" u="none" cap="none" strike="noStrike">
              <a:solidFill>
                <a:schemeClr val="dk1"/>
              </a:solidFill>
              <a:latin typeface="Calibri"/>
              <a:ea typeface="Calibri"/>
              <a:cs typeface="Calibri"/>
              <a:sym typeface="Calibri"/>
            </a:endParaRPr>
          </a:p>
        </p:txBody>
      </p:sp>
      <p:sp>
        <p:nvSpPr>
          <p:cNvPr id="45" name="Google Shape;45;p5"/>
          <p:cNvSpPr/>
          <p:nvPr/>
        </p:nvSpPr>
        <p:spPr>
          <a:xfrm>
            <a:off x="6766560" y="1920240"/>
            <a:ext cx="201168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QA Lead</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Documentation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6"/>
          <p:cNvSpPr/>
          <p:nvPr/>
        </p:nvSpPr>
        <p:spPr>
          <a:xfrm>
            <a:off x="457200" y="2743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i="0" lang="en-US" sz="3200" u="none" cap="none" strike="noStrike">
                <a:solidFill>
                  <a:srgbClr val="1A7F64"/>
                </a:solidFill>
                <a:latin typeface="Arial"/>
                <a:ea typeface="Arial"/>
                <a:cs typeface="Arial"/>
                <a:sym typeface="Arial"/>
              </a:rPr>
              <a:t>The Problem</a:t>
            </a:r>
            <a:endParaRPr b="0" i="0" sz="3200" u="none" cap="none" strike="noStrike">
              <a:solidFill>
                <a:schemeClr val="dk1"/>
              </a:solidFill>
              <a:latin typeface="Calibri"/>
              <a:ea typeface="Calibri"/>
              <a:cs typeface="Calibri"/>
              <a:sym typeface="Calibri"/>
            </a:endParaRPr>
          </a:p>
        </p:txBody>
      </p:sp>
      <p:sp>
        <p:nvSpPr>
          <p:cNvPr id="52" name="Google Shape;52;p6"/>
          <p:cNvSpPr/>
          <p:nvPr/>
        </p:nvSpPr>
        <p:spPr>
          <a:xfrm>
            <a:off x="457200" y="109728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Students spend </a:t>
            </a:r>
            <a:r>
              <a:rPr b="1" i="0" lang="en-US" sz="1800" u="none" cap="none" strike="noStrike">
                <a:solidFill>
                  <a:srgbClr val="DC2626"/>
                </a:solidFill>
                <a:latin typeface="Calibri"/>
                <a:ea typeface="Calibri"/>
                <a:cs typeface="Calibri"/>
                <a:sym typeface="Calibri"/>
              </a:rPr>
              <a:t>$1,200+/year </a:t>
            </a:r>
            <a:r>
              <a:rPr b="0" i="0" lang="en-US" sz="1800" u="none" cap="none" strike="noStrike">
                <a:solidFill>
                  <a:srgbClr val="000000"/>
                </a:solidFill>
                <a:latin typeface="Calibri"/>
                <a:ea typeface="Calibri"/>
                <a:cs typeface="Calibri"/>
                <a:sym typeface="Calibri"/>
              </a:rPr>
              <a:t>on textbooks</a:t>
            </a:r>
            <a:endParaRPr b="0" i="0" sz="1800" u="none" cap="none" strike="noStrike">
              <a:solidFill>
                <a:schemeClr val="dk1"/>
              </a:solidFill>
              <a:latin typeface="Calibri"/>
              <a:ea typeface="Calibri"/>
              <a:cs typeface="Calibri"/>
              <a:sym typeface="Calibri"/>
            </a:endParaRPr>
          </a:p>
        </p:txBody>
      </p:sp>
      <p:sp>
        <p:nvSpPr>
          <p:cNvPr id="53" name="Google Shape;53;p6"/>
          <p:cNvSpPr/>
          <p:nvPr/>
        </p:nvSpPr>
        <p:spPr>
          <a:xfrm>
            <a:off x="457200" y="155448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Campus bookstore buyback: only </a:t>
            </a:r>
            <a:r>
              <a:rPr b="1" i="0" lang="en-US" sz="1800" u="none" cap="none" strike="noStrike">
                <a:solidFill>
                  <a:srgbClr val="DC2626"/>
                </a:solidFill>
                <a:latin typeface="Calibri"/>
                <a:ea typeface="Calibri"/>
                <a:cs typeface="Calibri"/>
                <a:sym typeface="Calibri"/>
              </a:rPr>
              <a:t>10-20%</a:t>
            </a:r>
            <a:r>
              <a:rPr b="0" i="0" lang="en-US" sz="1800" u="none" cap="none" strike="noStrike">
                <a:solidFill>
                  <a:srgbClr val="000000"/>
                </a:solidFill>
                <a:latin typeface="Calibri"/>
                <a:ea typeface="Calibri"/>
                <a:cs typeface="Calibri"/>
                <a:sym typeface="Calibri"/>
              </a:rPr>
              <a:t> of original price</a:t>
            </a:r>
            <a:endParaRPr b="0" i="0" sz="1800" u="none" cap="none" strike="noStrike">
              <a:solidFill>
                <a:schemeClr val="dk1"/>
              </a:solidFill>
              <a:latin typeface="Calibri"/>
              <a:ea typeface="Calibri"/>
              <a:cs typeface="Calibri"/>
              <a:sym typeface="Calibri"/>
            </a:endParaRPr>
          </a:p>
        </p:txBody>
      </p:sp>
      <p:sp>
        <p:nvSpPr>
          <p:cNvPr id="54" name="Google Shape;54;p6"/>
          <p:cNvSpPr/>
          <p:nvPr/>
        </p:nvSpPr>
        <p:spPr>
          <a:xfrm>
            <a:off x="457200" y="201168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No campus-specific platform exists to connect student buyers and sellers</a:t>
            </a:r>
            <a:endParaRPr b="0" i="0" sz="1800" u="none" cap="none" strike="noStrike">
              <a:solidFill>
                <a:schemeClr val="dk1"/>
              </a:solidFill>
              <a:latin typeface="Calibri"/>
              <a:ea typeface="Calibri"/>
              <a:cs typeface="Calibri"/>
              <a:sym typeface="Calibri"/>
            </a:endParaRPr>
          </a:p>
        </p:txBody>
      </p:sp>
      <p:sp>
        <p:nvSpPr>
          <p:cNvPr id="55" name="Google Shape;55;p6"/>
          <p:cNvSpPr/>
          <p:nvPr/>
        </p:nvSpPr>
        <p:spPr>
          <a:xfrm>
            <a:off x="457200" y="2651760"/>
            <a:ext cx="8229600" cy="1828800"/>
          </a:xfrm>
          <a:prstGeom prst="rect">
            <a:avLst/>
          </a:prstGeom>
          <a:solidFill>
            <a:srgbClr val="FEF2F2"/>
          </a:solidFill>
          <a:ln cap="flat" cmpd="sng" w="254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731520" y="2834640"/>
            <a:ext cx="73152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Result: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  • Buyers pay full price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  • Sellers get almost nothing back</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  • Books sit unused or are discarded</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7"/>
          <p:cNvSpPr/>
          <p:nvPr/>
        </p:nvSpPr>
        <p:spPr>
          <a:xfrm>
            <a:off x="457200" y="2743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i="0" lang="en-US" sz="3200" u="none" cap="none" strike="noStrike">
                <a:solidFill>
                  <a:srgbClr val="1A7F64"/>
                </a:solidFill>
                <a:latin typeface="Arial"/>
                <a:ea typeface="Arial"/>
                <a:cs typeface="Arial"/>
                <a:sym typeface="Arial"/>
              </a:rPr>
              <a:t>Our Solution</a:t>
            </a:r>
            <a:endParaRPr b="0" i="0" sz="3200" u="none" cap="none" strike="noStrike">
              <a:solidFill>
                <a:schemeClr val="dk1"/>
              </a:solidFill>
              <a:latin typeface="Calibri"/>
              <a:ea typeface="Calibri"/>
              <a:cs typeface="Calibri"/>
              <a:sym typeface="Calibri"/>
            </a:endParaRPr>
          </a:p>
        </p:txBody>
      </p:sp>
      <p:sp>
        <p:nvSpPr>
          <p:cNvPr id="63" name="Google Shape;63;p7"/>
          <p:cNvSpPr/>
          <p:nvPr/>
        </p:nvSpPr>
        <p:spPr>
          <a:xfrm>
            <a:off x="457200" y="1005840"/>
            <a:ext cx="8229600" cy="914400"/>
          </a:xfrm>
          <a:prstGeom prst="rect">
            <a:avLst/>
          </a:prstGeom>
          <a:solidFill>
            <a:srgbClr val="1A7F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a:off x="731520" y="1234440"/>
            <a:ext cx="7680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web application where students buy and sell</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used textbooks directly to each other</a:t>
            </a:r>
            <a:endParaRPr b="0" i="0" sz="1800" u="none" cap="none" strike="noStrike">
              <a:solidFill>
                <a:schemeClr val="dk1"/>
              </a:solidFill>
              <a:latin typeface="Calibri"/>
              <a:ea typeface="Calibri"/>
              <a:cs typeface="Calibri"/>
              <a:sym typeface="Calibri"/>
            </a:endParaRPr>
          </a:p>
        </p:txBody>
      </p:sp>
      <p:sp>
        <p:nvSpPr>
          <p:cNvPr id="65" name="Google Shape;65;p7"/>
          <p:cNvSpPr/>
          <p:nvPr/>
        </p:nvSpPr>
        <p:spPr>
          <a:xfrm>
            <a:off x="457200" y="2286000"/>
            <a:ext cx="2560320" cy="201168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a:off x="457200" y="246888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67" name="Google Shape;67;p7"/>
          <p:cNvSpPr/>
          <p:nvPr/>
        </p:nvSpPr>
        <p:spPr>
          <a:xfrm>
            <a:off x="457200" y="3200400"/>
            <a:ext cx="256032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Buyers save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30-70%</a:t>
            </a:r>
            <a:endParaRPr b="0" i="0" sz="1600" u="none" cap="none" strike="noStrike">
              <a:solidFill>
                <a:schemeClr val="dk1"/>
              </a:solidFill>
              <a:latin typeface="Calibri"/>
              <a:ea typeface="Calibri"/>
              <a:cs typeface="Calibri"/>
              <a:sym typeface="Calibri"/>
            </a:endParaRPr>
          </a:p>
        </p:txBody>
      </p:sp>
      <p:sp>
        <p:nvSpPr>
          <p:cNvPr id="68" name="Google Shape;68;p7"/>
          <p:cNvSpPr/>
          <p:nvPr/>
        </p:nvSpPr>
        <p:spPr>
          <a:xfrm>
            <a:off x="3200400" y="2286000"/>
            <a:ext cx="2560320" cy="201168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3200400" y="246888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70" name="Google Shape;70;p7"/>
          <p:cNvSpPr/>
          <p:nvPr/>
        </p:nvSpPr>
        <p:spPr>
          <a:xfrm>
            <a:off x="3200400" y="3200400"/>
            <a:ext cx="256032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Sellers get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fair value</a:t>
            </a:r>
            <a:endParaRPr b="0" i="0" sz="1600" u="none" cap="none" strike="noStrike">
              <a:solidFill>
                <a:schemeClr val="dk1"/>
              </a:solidFill>
              <a:latin typeface="Calibri"/>
              <a:ea typeface="Calibri"/>
              <a:cs typeface="Calibri"/>
              <a:sym typeface="Calibri"/>
            </a:endParaRPr>
          </a:p>
        </p:txBody>
      </p:sp>
      <p:sp>
        <p:nvSpPr>
          <p:cNvPr id="71" name="Google Shape;71;p7"/>
          <p:cNvSpPr/>
          <p:nvPr/>
        </p:nvSpPr>
        <p:spPr>
          <a:xfrm>
            <a:off x="5943600" y="2286000"/>
            <a:ext cx="2560320" cy="201168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5943600" y="246888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73" name="Google Shape;73;p7"/>
          <p:cNvSpPr/>
          <p:nvPr/>
        </p:nvSpPr>
        <p:spPr>
          <a:xfrm>
            <a:off x="5943600" y="3200400"/>
            <a:ext cx="256032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Books get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reused</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8"/>
          <p:cNvSpPr/>
          <p:nvPr/>
        </p:nvSpPr>
        <p:spPr>
          <a:xfrm>
            <a:off x="457200" y="27432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lang="en-US" sz="3200">
                <a:solidFill>
                  <a:srgbClr val="1A7F64"/>
                </a:solidFill>
              </a:rPr>
              <a:t>Chop (Project Manager)</a:t>
            </a:r>
            <a:endParaRPr b="1" i="0" sz="3200" u="none" cap="none" strike="noStrike">
              <a:solidFill>
                <a:srgbClr val="1A7F64"/>
              </a:solidFill>
            </a:endParaRPr>
          </a:p>
        </p:txBody>
      </p:sp>
      <p:sp>
        <p:nvSpPr>
          <p:cNvPr id="80" name="Google Shape;80;p8"/>
          <p:cNvSpPr/>
          <p:nvPr/>
        </p:nvSpPr>
        <p:spPr>
          <a:xfrm>
            <a:off x="457200" y="914400"/>
            <a:ext cx="8229600" cy="3489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What </a:t>
            </a:r>
            <a:r>
              <a:rPr b="1" lang="en-US" sz="1600">
                <a:latin typeface="Calibri"/>
                <a:ea typeface="Calibri"/>
                <a:cs typeface="Calibri"/>
                <a:sym typeface="Calibri"/>
              </a:rPr>
              <a:t>he did:</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Defined the core MVPs (Post, Search, Connect) and kept the team focused on a </a:t>
            </a:r>
            <a:r>
              <a:rPr lang="en-US" sz="1300">
                <a:latin typeface="Calibri"/>
                <a:ea typeface="Calibri"/>
                <a:cs typeface="Calibri"/>
                <a:sym typeface="Calibri"/>
              </a:rPr>
              <a:t>functional</a:t>
            </a:r>
            <a:r>
              <a:rPr lang="en-US" sz="1300">
                <a:latin typeface="Calibri"/>
                <a:ea typeface="Calibri"/>
                <a:cs typeface="Calibri"/>
                <a:sym typeface="Calibri"/>
              </a:rPr>
              <a:t> loop rather than getting distracted by unnecessary </a:t>
            </a:r>
            <a:r>
              <a:rPr lang="en-US" sz="1300">
                <a:latin typeface="Calibri"/>
                <a:ea typeface="Calibri"/>
                <a:cs typeface="Calibri"/>
                <a:sym typeface="Calibri"/>
              </a:rPr>
              <a:t>features</a:t>
            </a:r>
            <a:r>
              <a:rPr lang="en-US" sz="1300">
                <a:latin typeface="Calibri"/>
                <a:ea typeface="Calibri"/>
                <a:cs typeface="Calibri"/>
                <a:sym typeface="Calibri"/>
              </a:rPr>
              <a:t> (like a complex in-app chat).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How </a:t>
            </a:r>
            <a:r>
              <a:rPr b="1" lang="en-US" sz="1600">
                <a:latin typeface="Calibri"/>
                <a:ea typeface="Calibri"/>
                <a:cs typeface="Calibri"/>
                <a:sym typeface="Calibri"/>
              </a:rPr>
              <a:t>he went about it: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Broke the project down into an iterative process. First, get the mock </a:t>
            </a:r>
            <a:r>
              <a:rPr lang="en-US" sz="1300">
                <a:latin typeface="Calibri"/>
                <a:ea typeface="Calibri"/>
                <a:cs typeface="Calibri"/>
                <a:sym typeface="Calibri"/>
              </a:rPr>
              <a:t>database</a:t>
            </a:r>
            <a:r>
              <a:rPr lang="en-US" sz="1300">
                <a:latin typeface="Calibri"/>
                <a:ea typeface="Calibri"/>
                <a:cs typeface="Calibri"/>
                <a:sym typeface="Calibri"/>
              </a:rPr>
              <a:t> running. Second, build the UI. Third, connect the dynamic routing</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lang="en-US" sz="1600">
                <a:latin typeface="Calibri"/>
                <a:ea typeface="Calibri"/>
                <a:cs typeface="Calibri"/>
                <a:sym typeface="Calibri"/>
              </a:rPr>
              <a:t>The Challenge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Coordinating testing when the app was only running locally on David’s machine, </a:t>
            </a:r>
            <a:r>
              <a:rPr lang="en-US" sz="1300">
                <a:latin typeface="Calibri"/>
                <a:ea typeface="Calibri"/>
                <a:cs typeface="Calibri"/>
                <a:sym typeface="Calibri"/>
              </a:rPr>
              <a:t>which</a:t>
            </a:r>
            <a:r>
              <a:rPr lang="en-US" sz="1300">
                <a:latin typeface="Calibri"/>
                <a:ea typeface="Calibri"/>
                <a:cs typeface="Calibri"/>
                <a:sym typeface="Calibri"/>
              </a:rPr>
              <a:t> created a bottleneck for the </a:t>
            </a:r>
            <a:r>
              <a:rPr lang="en-US" sz="1300">
                <a:latin typeface="Calibri"/>
                <a:ea typeface="Calibri"/>
                <a:cs typeface="Calibri"/>
                <a:sym typeface="Calibri"/>
              </a:rPr>
              <a:t>designer</a:t>
            </a:r>
            <a:r>
              <a:rPr lang="en-US" sz="1300">
                <a:latin typeface="Calibri"/>
                <a:ea typeface="Calibri"/>
                <a:cs typeface="Calibri"/>
                <a:sym typeface="Calibri"/>
              </a:rPr>
              <a:t> (Sami) and </a:t>
            </a:r>
            <a:r>
              <a:rPr lang="en-US" sz="1300">
                <a:latin typeface="Calibri"/>
                <a:ea typeface="Calibri"/>
                <a:cs typeface="Calibri"/>
                <a:sym typeface="Calibri"/>
              </a:rPr>
              <a:t>frontend</a:t>
            </a:r>
            <a:r>
              <a:rPr lang="en-US" sz="1300">
                <a:latin typeface="Calibri"/>
                <a:ea typeface="Calibri"/>
                <a:cs typeface="Calibri"/>
                <a:sym typeface="Calibri"/>
              </a:rPr>
              <a:t> developer (Thomas) to review changes</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1" lang="en-US" sz="1600">
                <a:latin typeface="Calibri"/>
                <a:ea typeface="Calibri"/>
                <a:cs typeface="Calibri"/>
                <a:sym typeface="Calibri"/>
              </a:rPr>
              <a:t>The Solution:</a:t>
            </a:r>
            <a:endParaRPr b="1" sz="16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Implemented</a:t>
            </a:r>
            <a:r>
              <a:rPr lang="en-US" sz="1300">
                <a:latin typeface="Calibri"/>
                <a:ea typeface="Calibri"/>
                <a:cs typeface="Calibri"/>
                <a:sym typeface="Calibri"/>
              </a:rPr>
              <a:t> localtunnel to create public URLs bridging to local environments. Ran into 503 gateway error intiially, but diagnosed it as a port mismatch (e.g. </a:t>
            </a:r>
            <a:r>
              <a:rPr lang="en-US" sz="1300">
                <a:latin typeface="Calibri"/>
                <a:ea typeface="Calibri"/>
                <a:cs typeface="Calibri"/>
                <a:sym typeface="Calibri"/>
              </a:rPr>
              <a:t>conflicting</a:t>
            </a:r>
            <a:r>
              <a:rPr lang="en-US" sz="1300">
                <a:latin typeface="Calibri"/>
                <a:ea typeface="Calibri"/>
                <a:cs typeface="Calibri"/>
                <a:sym typeface="Calibri"/>
              </a:rPr>
              <a:t> with past projects running on port 3000 vs 3001) and established a strict “two-terminal” rule for the team to test the live server securely.</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9"/>
          <p:cNvSpPr/>
          <p:nvPr/>
        </p:nvSpPr>
        <p:spPr>
          <a:xfrm>
            <a:off x="457200" y="274325"/>
            <a:ext cx="8229600" cy="1310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lang="en-US" sz="3200">
                <a:solidFill>
                  <a:srgbClr val="1A7F64"/>
                </a:solidFill>
              </a:rPr>
              <a:t>Thomas</a:t>
            </a:r>
            <a:r>
              <a:rPr b="1" lang="en-US" sz="3200">
                <a:solidFill>
                  <a:srgbClr val="1A7F64"/>
                </a:solidFill>
              </a:rPr>
              <a:t> (</a:t>
            </a:r>
            <a:r>
              <a:rPr b="1" lang="en-US" sz="3200">
                <a:solidFill>
                  <a:srgbClr val="1A7F64"/>
                </a:solidFill>
              </a:rPr>
              <a:t>GitHub Administrator, Frontend Developer</a:t>
            </a:r>
            <a:endParaRPr b="1" sz="3200">
              <a:solidFill>
                <a:srgbClr val="1A7F64"/>
              </a:solidFill>
            </a:endParaRPr>
          </a:p>
        </p:txBody>
      </p:sp>
      <p:sp>
        <p:nvSpPr>
          <p:cNvPr id="87" name="Google Shape;87;p9"/>
          <p:cNvSpPr/>
          <p:nvPr/>
        </p:nvSpPr>
        <p:spPr>
          <a:xfrm>
            <a:off x="457200" y="1676400"/>
            <a:ext cx="8229600" cy="34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What </a:t>
            </a:r>
            <a:r>
              <a:rPr b="1" lang="en-US" sz="1600">
                <a:latin typeface="Calibri"/>
                <a:ea typeface="Calibri"/>
                <a:cs typeface="Calibri"/>
                <a:sym typeface="Calibri"/>
              </a:rPr>
              <a:t>he did:</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Built out the user-facing forms and integrated the EJS (Embedded JavaScript) templating engine to generate the HTML dynamically based on what David’s backend sent over</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How </a:t>
            </a:r>
            <a:r>
              <a:rPr b="1" lang="en-US" sz="1600">
                <a:latin typeface="Calibri"/>
                <a:ea typeface="Calibri"/>
                <a:cs typeface="Calibri"/>
                <a:sym typeface="Calibri"/>
              </a:rPr>
              <a:t>he went about it: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Created the advanced search sidebar, swapping out rigid radio buttons for dynamic &lt;select&gt; dropdowns for university </a:t>
            </a:r>
            <a:r>
              <a:rPr lang="en-US" sz="1300">
                <a:latin typeface="Calibri"/>
                <a:ea typeface="Calibri"/>
                <a:cs typeface="Calibri"/>
                <a:sym typeface="Calibri"/>
              </a:rPr>
              <a:t>departments, and built the “Empty State” UI components for when queries return zero results.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lang="en-US" sz="1600">
                <a:latin typeface="Calibri"/>
                <a:ea typeface="Calibri"/>
                <a:cs typeface="Calibri"/>
                <a:sym typeface="Calibri"/>
              </a:rPr>
              <a:t>The Challenge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Flexbox alignment issues across different pages. The navigation menu kept breaking and shoving all links to the far right on pages like “My Listings” and “Search” making the app look disjointed.</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1" lang="en-US" sz="1600">
                <a:latin typeface="Calibri"/>
                <a:ea typeface="Calibri"/>
                <a:cs typeface="Calibri"/>
                <a:sym typeface="Calibri"/>
              </a:rPr>
              <a:t>The Solution: </a:t>
            </a:r>
            <a:endParaRPr b="1" sz="16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Standardized the HTML </a:t>
            </a:r>
            <a:r>
              <a:rPr lang="en-US" sz="1300">
                <a:latin typeface="Calibri"/>
                <a:ea typeface="Calibri"/>
                <a:cs typeface="Calibri"/>
                <a:sym typeface="Calibri"/>
              </a:rPr>
              <a:t>structure</a:t>
            </a:r>
            <a:r>
              <a:rPr lang="en-US" sz="1300">
                <a:latin typeface="Calibri"/>
                <a:ea typeface="Calibri"/>
                <a:cs typeface="Calibri"/>
                <a:sym typeface="Calibri"/>
              </a:rPr>
              <a:t>. Extracted the </a:t>
            </a:r>
            <a:r>
              <a:rPr lang="en-US" sz="1300">
                <a:latin typeface="Calibri"/>
                <a:ea typeface="Calibri"/>
                <a:cs typeface="Calibri"/>
                <a:sym typeface="Calibri"/>
              </a:rPr>
              <a:t>navigation</a:t>
            </a:r>
            <a:r>
              <a:rPr lang="en-US" sz="1300">
                <a:latin typeface="Calibri"/>
                <a:ea typeface="Calibri"/>
                <a:cs typeface="Calibri"/>
                <a:sym typeface="Calibri"/>
              </a:rPr>
              <a:t> into a universal modular &lt;nav&gt; block with .nav-left and .nav-right containers. This </a:t>
            </a:r>
            <a:r>
              <a:rPr lang="en-US" sz="1300">
                <a:latin typeface="Calibri"/>
                <a:ea typeface="Calibri"/>
                <a:cs typeface="Calibri"/>
                <a:sym typeface="Calibri"/>
              </a:rPr>
              <a:t>guaranteed</a:t>
            </a:r>
            <a:r>
              <a:rPr lang="en-US" sz="1300">
                <a:latin typeface="Calibri"/>
                <a:ea typeface="Calibri"/>
                <a:cs typeface="Calibri"/>
                <a:sym typeface="Calibri"/>
              </a:rPr>
              <a:t> the flexbox layout remained perfectly </a:t>
            </a:r>
            <a:r>
              <a:rPr lang="en-US" sz="1300">
                <a:latin typeface="Calibri"/>
                <a:ea typeface="Calibri"/>
                <a:cs typeface="Calibri"/>
                <a:sym typeface="Calibri"/>
              </a:rPr>
              <a:t>consistent</a:t>
            </a:r>
            <a:r>
              <a:rPr lang="en-US" sz="1300">
                <a:latin typeface="Calibri"/>
                <a:ea typeface="Calibri"/>
                <a:cs typeface="Calibri"/>
                <a:sym typeface="Calibri"/>
              </a:rPr>
              <a:t> no matter which EJS view the user loaded.</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0"/>
          <p:cNvSpPr/>
          <p:nvPr/>
        </p:nvSpPr>
        <p:spPr>
          <a:xfrm>
            <a:off x="457200" y="27432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lang="en-US" sz="3200">
                <a:solidFill>
                  <a:srgbClr val="1A7F64"/>
                </a:solidFill>
              </a:rPr>
              <a:t>David </a:t>
            </a:r>
            <a:r>
              <a:rPr b="1" lang="en-US" sz="3200">
                <a:solidFill>
                  <a:srgbClr val="1A7F64"/>
                </a:solidFill>
              </a:rPr>
              <a:t>(Lead Developer)</a:t>
            </a:r>
            <a:endParaRPr b="1" i="0" sz="3200" u="none" cap="none" strike="noStrike">
              <a:solidFill>
                <a:srgbClr val="1A7F64"/>
              </a:solidFill>
            </a:endParaRPr>
          </a:p>
        </p:txBody>
      </p:sp>
      <p:sp>
        <p:nvSpPr>
          <p:cNvPr id="94" name="Google Shape;94;p10"/>
          <p:cNvSpPr/>
          <p:nvPr/>
        </p:nvSpPr>
        <p:spPr>
          <a:xfrm>
            <a:off x="457200" y="914400"/>
            <a:ext cx="8397300" cy="42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What </a:t>
            </a:r>
            <a:r>
              <a:rPr b="1" lang="en-US" sz="1600">
                <a:latin typeface="Calibri"/>
                <a:ea typeface="Calibri"/>
                <a:cs typeface="Calibri"/>
                <a:sym typeface="Calibri"/>
              </a:rPr>
              <a:t>he did:</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Architected the </a:t>
            </a:r>
            <a:r>
              <a:rPr lang="en-US" sz="1300" u="sng">
                <a:solidFill>
                  <a:schemeClr val="hlink"/>
                </a:solidFill>
                <a:latin typeface="Calibri"/>
                <a:ea typeface="Calibri"/>
                <a:cs typeface="Calibri"/>
                <a:sym typeface="Calibri"/>
                <a:hlinkClick r:id="rId3"/>
              </a:rPr>
              <a:t>Node.js/Express</a:t>
            </a:r>
            <a:r>
              <a:rPr lang="en-US" sz="1300">
                <a:latin typeface="Calibri"/>
                <a:ea typeface="Calibri"/>
                <a:cs typeface="Calibri"/>
                <a:sym typeface="Calibri"/>
              </a:rPr>
              <a:t> server, set up Multer for image file uploads, and engineered the secure “double-blind” email relay system using Nodemailer.</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How </a:t>
            </a:r>
            <a:r>
              <a:rPr b="1" lang="en-US" sz="1600">
                <a:latin typeface="Calibri"/>
                <a:ea typeface="Calibri"/>
                <a:cs typeface="Calibri"/>
                <a:sym typeface="Calibri"/>
              </a:rPr>
              <a:t>he went about it: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Used local JSON files (books.json, users.json, messages.json) to mock a database for the MVP. Built custom filter functions to process Thomas’ frontend search search queries (handling case insensitivity and empty fields).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lang="en-US" sz="1600">
                <a:latin typeface="Calibri"/>
                <a:ea typeface="Calibri"/>
                <a:cs typeface="Calibri"/>
                <a:sym typeface="Calibri"/>
              </a:rPr>
              <a:t>The Challenge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Two major hurdles. First, the server kept crashing randomly with a [SyntaxError: Unexpected end of JSON input]. Second, the professor’s requirement to protect user privacy meant we couldn’t just display seller emails on the frontend.</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1" lang="en-US" sz="1600">
                <a:latin typeface="Calibri"/>
                <a:ea typeface="Calibri"/>
                <a:cs typeface="Calibri"/>
                <a:sym typeface="Calibri"/>
              </a:rPr>
              <a:t>The Solution: * The Crash Fix: </a:t>
            </a:r>
            <a:endParaRPr b="1" sz="16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Realized Node’s [JSON.parse()] crashes when reading a completely empty 0-byte file. Wrote a robust try/catch wrapper that checks if(!data.trim() ) and safely returns an empty array to prevent fatal server crashes.</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	</a:t>
            </a:r>
            <a:r>
              <a:rPr b="1" lang="en-US" sz="1300">
                <a:latin typeface="Calibri"/>
                <a:ea typeface="Calibri"/>
                <a:cs typeface="Calibri"/>
                <a:sym typeface="Calibri"/>
              </a:rPr>
              <a:t>The Privacy Fix:</a:t>
            </a:r>
            <a:r>
              <a:rPr lang="en-US" sz="1300">
                <a:latin typeface="Calibri"/>
                <a:ea typeface="Calibri"/>
                <a:cs typeface="Calibri"/>
                <a:sym typeface="Calibri"/>
              </a:rPr>
              <a:t> Built a middleman relay. Instead of exposing emails, the server generates a unique UUID for a conversation. Nodemailer emails the seller a secure localhost:3000/reply/UUID link. When they click, they reply via the website.</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1"/>
          <p:cNvSpPr/>
          <p:nvPr/>
        </p:nvSpPr>
        <p:spPr>
          <a:xfrm>
            <a:off x="457200" y="27432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lang="en-US" sz="3200">
                <a:solidFill>
                  <a:srgbClr val="1A7F64"/>
                </a:solidFill>
              </a:rPr>
              <a:t>Shaikh</a:t>
            </a:r>
            <a:r>
              <a:rPr b="1" lang="en-US" sz="3200">
                <a:solidFill>
                  <a:srgbClr val="1A7F64"/>
                </a:solidFill>
              </a:rPr>
              <a:t>(QA Lead, Documentation)</a:t>
            </a:r>
            <a:endParaRPr b="1" i="0" sz="3200" u="none" cap="none" strike="noStrike">
              <a:solidFill>
                <a:srgbClr val="1A7F64"/>
              </a:solidFill>
            </a:endParaRPr>
          </a:p>
        </p:txBody>
      </p:sp>
      <p:sp>
        <p:nvSpPr>
          <p:cNvPr id="101" name="Google Shape;101;p11"/>
          <p:cNvSpPr/>
          <p:nvPr/>
        </p:nvSpPr>
        <p:spPr>
          <a:xfrm>
            <a:off x="457200" y="914400"/>
            <a:ext cx="8229600" cy="3489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What </a:t>
            </a:r>
            <a:r>
              <a:rPr b="1" lang="en-US" sz="1600">
                <a:latin typeface="Calibri"/>
                <a:ea typeface="Calibri"/>
                <a:cs typeface="Calibri"/>
                <a:sym typeface="Calibri"/>
              </a:rPr>
              <a:t>he did:</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Designed the application to feel authentic to the student body by utilizing the official U of R deep forest green (#005030) and vibrant gold color palette, alongside a clean, modern card-based layout for the textbooks.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How </a:t>
            </a:r>
            <a:r>
              <a:rPr b="1" lang="en-US" sz="1600">
                <a:latin typeface="Calibri"/>
                <a:ea typeface="Calibri"/>
                <a:cs typeface="Calibri"/>
                <a:sym typeface="Calibri"/>
              </a:rPr>
              <a:t>he went about it: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Focused on a “dashboard” feel. Ensured the “Call to Action” buttons (like the red Delete button) contrasted heavily with the primary navigation to prevent accidental clicks.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600"/>
              <a:buFont typeface="Calibri"/>
              <a:buNone/>
            </a:pPr>
            <a:r>
              <a:rPr b="1" lang="en-US" sz="1600">
                <a:latin typeface="Calibri"/>
                <a:ea typeface="Calibri"/>
                <a:cs typeface="Calibri"/>
                <a:sym typeface="Calibri"/>
              </a:rPr>
              <a:t>The Challenge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Integrating the custom SVG BookExchange logo without distorting the strict height constraints of the navigation bar, and dealing with layout shifts where the search sidebar would float to the center of the screen instead of staying at the top.</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1" lang="en-US" sz="1600">
                <a:latin typeface="Calibri"/>
                <a:ea typeface="Calibri"/>
                <a:cs typeface="Calibri"/>
                <a:sym typeface="Calibri"/>
              </a:rPr>
              <a:t>The Solution:</a:t>
            </a:r>
            <a:endParaRPr b="1" sz="16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lang="en-US" sz="1300">
                <a:latin typeface="Calibri"/>
                <a:ea typeface="Calibri"/>
                <a:cs typeface="Calibri"/>
                <a:sym typeface="Calibri"/>
              </a:rPr>
              <a:t>Used CSS transformations (transform: scale() ) anchored to the left to visually enlarge the logo without breaking the physical DOM space. Fixed the search layout by implementing strict flexbox rules (align-items: flex-start) to force </a:t>
            </a:r>
            <a:r>
              <a:rPr lang="en-US" sz="1300">
                <a:latin typeface="Calibri"/>
                <a:ea typeface="Calibri"/>
                <a:cs typeface="Calibri"/>
                <a:sym typeface="Calibri"/>
              </a:rPr>
              <a:t>the</a:t>
            </a:r>
            <a:r>
              <a:rPr lang="en-US" sz="1300">
                <a:latin typeface="Calibri"/>
                <a:ea typeface="Calibri"/>
                <a:cs typeface="Calibri"/>
                <a:sym typeface="Calibri"/>
              </a:rPr>
              <a:t> sidebar and results grid to the top of the viewport</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3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2"/>
          <p:cNvSpPr/>
          <p:nvPr/>
        </p:nvSpPr>
        <p:spPr>
          <a:xfrm>
            <a:off x="457200" y="2743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i="0" lang="en-US" sz="3200" u="none" cap="none" strike="noStrike">
                <a:solidFill>
                  <a:srgbClr val="1A7F64"/>
                </a:solidFill>
                <a:latin typeface="Arial"/>
                <a:ea typeface="Arial"/>
                <a:cs typeface="Arial"/>
                <a:sym typeface="Arial"/>
              </a:rPr>
              <a:t>Self-Reflection</a:t>
            </a:r>
            <a:endParaRPr b="0" i="0" sz="3200" u="none" cap="none" strike="noStrike">
              <a:solidFill>
                <a:schemeClr val="dk1"/>
              </a:solidFill>
              <a:latin typeface="Calibri"/>
              <a:ea typeface="Calibri"/>
              <a:cs typeface="Calibri"/>
              <a:sym typeface="Calibri"/>
            </a:endParaRPr>
          </a:p>
        </p:txBody>
      </p:sp>
      <p:sp>
        <p:nvSpPr>
          <p:cNvPr id="108" name="Google Shape;108;p12"/>
          <p:cNvSpPr/>
          <p:nvPr/>
        </p:nvSpPr>
        <p:spPr>
          <a:xfrm>
            <a:off x="457200" y="1097275"/>
            <a:ext cx="8229600" cy="2744700"/>
          </a:xfrm>
          <a:prstGeom prst="rect">
            <a:avLst/>
          </a:prstGeom>
          <a:noFill/>
          <a:ln>
            <a:noFill/>
          </a:ln>
        </p:spPr>
        <p:txBody>
          <a:bodyPr anchorCtr="0" anchor="ctr" bIns="45700" lIns="91425" spcFirstLastPara="1" rIns="91425" wrap="square" tIns="45700">
            <a:noAutofit/>
          </a:bodyPr>
          <a:lstStyle/>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How did you feel about this activity?</a:t>
            </a:r>
            <a:endParaRPr b="1" sz="1500">
              <a:solidFill>
                <a:schemeClr val="dk1"/>
              </a:solidFill>
              <a:highlight>
                <a:schemeClr val="lt1"/>
              </a:highlight>
            </a:endParaRPr>
          </a:p>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highlight>
                  <a:schemeClr val="lt1"/>
                </a:highlight>
              </a:rPr>
              <a:t>This activity was both challenging and rewarding. It pushed our team to turn an idea into a working software prototype and helped us experience the realities of software development under time and resource constraints.</a:t>
            </a:r>
            <a:endParaRPr sz="9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What did you like about it?</a:t>
            </a:r>
            <a:endParaRPr b="1" sz="15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lang="en-US" sz="900">
                <a:solidFill>
                  <a:schemeClr val="dk1"/>
                </a:solidFill>
                <a:highlight>
                  <a:schemeClr val="lt1"/>
                </a:highlight>
              </a:rPr>
              <a:t>We liked that the project resulted in something tangible and demonstrable. It was satisfying to see the prototype support the main marketplace workflow, including browsing books, posting listings, viewing details, contacting sellers by email, and managing personal listings.</a:t>
            </a:r>
            <a:endParaRPr sz="9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What did you dislike about it?</a:t>
            </a:r>
            <a:endParaRPr b="1" sz="1500">
              <a:solidFill>
                <a:schemeClr val="dk1"/>
              </a:solidFill>
              <a:highlight>
                <a:schemeClr val="lt1"/>
              </a:highlight>
            </a:endParaRPr>
          </a:p>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highlight>
                  <a:schemeClr val="lt1"/>
                </a:highlight>
              </a:rPr>
              <a:t>The most difficult part was that we had to make trade-offs because of time, complexity, and budget lim</a:t>
            </a:r>
            <a:r>
              <a:rPr lang="en-US" sz="900">
                <a:solidFill>
                  <a:schemeClr val="dk1"/>
                </a:solidFill>
                <a:highlight>
                  <a:schemeClr val="lt1"/>
                </a:highlight>
              </a:rPr>
              <a:t>itations. We could not implement every desired feature in this phase, and running the project only through localhost limited how realistic the deployment experience could be.</a:t>
            </a:r>
            <a:endParaRPr sz="900">
              <a:solidFill>
                <a:schemeClr val="dk1"/>
              </a:solidFill>
              <a:highlight>
                <a:schemeClr val="lt1"/>
              </a:highlight>
            </a:endParaRPr>
          </a:p>
          <a:p>
            <a:pPr indent="0" lvl="0" marL="0" marR="0" rtl="0" algn="l">
              <a:spcBef>
                <a:spcPts val="1200"/>
              </a:spcBef>
              <a:spcAft>
                <a:spcPts val="0"/>
              </a:spcAft>
              <a:buClr>
                <a:srgbClr val="000000"/>
              </a:buClr>
              <a:buSzPts val="1300"/>
              <a:buFont typeface="Calibri"/>
              <a:buNone/>
            </a:pPr>
            <a:r>
              <a:t/>
            </a:r>
            <a:endParaRPr b="1" sz="1600">
              <a:latin typeface="Calibri"/>
              <a:ea typeface="Calibri"/>
              <a:cs typeface="Calibri"/>
              <a:sym typeface="Calibri"/>
            </a:endParaRPr>
          </a:p>
        </p:txBody>
      </p:sp>
      <p:sp>
        <p:nvSpPr>
          <p:cNvPr id="109" name="Google Shape;109;p12"/>
          <p:cNvSpPr/>
          <p:nvPr/>
        </p:nvSpPr>
        <p:spPr>
          <a:xfrm>
            <a:off x="457200" y="3657600"/>
            <a:ext cx="8229600" cy="1097280"/>
          </a:xfrm>
          <a:prstGeom prst="rect">
            <a:avLst/>
          </a:prstGeom>
          <a:solidFill>
            <a:srgbClr val="F0F7F5"/>
          </a:solidFill>
          <a:ln cap="flat" cmpd="sng" w="12700">
            <a:solidFill>
              <a:srgbClr val="1A7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p:nvPr/>
        </p:nvSpPr>
        <p:spPr>
          <a:xfrm>
            <a:off x="640080" y="3931920"/>
            <a:ext cx="78638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500"/>
              <a:buFont typeface="Arial"/>
              <a:buNone/>
            </a:pPr>
            <a:r>
              <a:rPr b="0" i="1" lang="en-US" sz="1500" u="none" cap="none" strike="noStrike">
                <a:solidFill>
                  <a:srgbClr val="000000"/>
                </a:solidFill>
                <a:latin typeface="Arial"/>
                <a:ea typeface="Arial"/>
                <a:cs typeface="Arial"/>
                <a:sym typeface="Arial"/>
              </a:rPr>
              <a:t>"We learned that good documentation and planning upfront saves time later in development."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3"/>
          <p:cNvSpPr/>
          <p:nvPr/>
        </p:nvSpPr>
        <p:spPr>
          <a:xfrm>
            <a:off x="457200" y="2743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i="0" lang="en-US" sz="3200" u="none" cap="none" strike="noStrike">
                <a:solidFill>
                  <a:srgbClr val="1A7F64"/>
                </a:solidFill>
                <a:latin typeface="Arial"/>
                <a:ea typeface="Arial"/>
                <a:cs typeface="Arial"/>
                <a:sym typeface="Arial"/>
              </a:rPr>
              <a:t>Self-Reflection (Continued)</a:t>
            </a:r>
            <a:endParaRPr b="0" i="0" sz="3200" u="none" cap="none" strike="noStrike">
              <a:solidFill>
                <a:schemeClr val="dk1"/>
              </a:solidFill>
              <a:latin typeface="Calibri"/>
              <a:ea typeface="Calibri"/>
              <a:cs typeface="Calibri"/>
              <a:sym typeface="Calibri"/>
            </a:endParaRPr>
          </a:p>
        </p:txBody>
      </p:sp>
      <p:sp>
        <p:nvSpPr>
          <p:cNvPr id="117" name="Google Shape;117;p13"/>
          <p:cNvSpPr/>
          <p:nvPr/>
        </p:nvSpPr>
        <p:spPr>
          <a:xfrm>
            <a:off x="457200" y="1097275"/>
            <a:ext cx="8229600" cy="3873600"/>
          </a:xfrm>
          <a:prstGeom prst="rect">
            <a:avLst/>
          </a:prstGeom>
          <a:noFill/>
          <a:ln>
            <a:noFill/>
          </a:ln>
        </p:spPr>
        <p:txBody>
          <a:bodyPr anchorCtr="0" anchor="ctr" bIns="45700" lIns="91425" spcFirstLastPara="1" rIns="91425" wrap="square" tIns="45700">
            <a:noAutofit/>
          </a:bodyPr>
          <a:lstStyle/>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What is your team most proud of?</a:t>
            </a:r>
            <a:endParaRPr b="1" sz="1500">
              <a:solidFill>
                <a:schemeClr val="dk1"/>
              </a:solidFill>
              <a:highlight>
                <a:schemeClr val="lt1"/>
              </a:highlight>
            </a:endParaRPr>
          </a:p>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highlight>
                  <a:schemeClr val="lt1"/>
                </a:highlight>
              </a:rPr>
              <a:t>We are most proud of building a working prototype that demonstrates the core purpose of the platform. Even though the system is not yet fully complete, it successfully shows the main user journey and gives us a strong base for future improvements.</a:t>
            </a:r>
            <a:endParaRPr sz="9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What did you learn about yourself as you collaborated and worked on this activity?</a:t>
            </a:r>
            <a:endParaRPr b="1" sz="1500">
              <a:solidFill>
                <a:schemeClr val="dk1"/>
              </a:solidFill>
              <a:highlight>
                <a:schemeClr val="lt1"/>
              </a:highlight>
            </a:endParaRPr>
          </a:p>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highlight>
                  <a:schemeClr val="lt1"/>
                </a:highlight>
              </a:rPr>
              <a:t>Individually, team members learned how to better manage their time under pressure and discovered their personal strengths in either front-end design or back-end logic.We learned that collaboration works best when responsibilities are clear and the team agrees early on what is realistic. We also learned that reducing scope is sometimes the best decision if it helps deliver a stable and credible prototype.</a:t>
            </a:r>
            <a:endParaRPr sz="9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How will you use what you learned going forward?</a:t>
            </a:r>
            <a:endParaRPr b="1" sz="1500">
              <a:solidFill>
                <a:schemeClr val="dk1"/>
              </a:solidFill>
              <a:highlight>
                <a:schemeClr val="lt1"/>
              </a:highlight>
            </a:endParaRPr>
          </a:p>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highlight>
                  <a:schemeClr val="lt1"/>
                </a:highlight>
              </a:rPr>
              <a:t>Going forward, we will use this experience to plan projects more strategically, define scope earlier, and separate essential features from optional enhancements. We will also pay more attention to deployment planning and technical feasibility from the start.</a:t>
            </a:r>
            <a:endParaRPr sz="9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US" sz="1500">
                <a:solidFill>
                  <a:schemeClr val="dk1"/>
                </a:solidFill>
                <a:highlight>
                  <a:schemeClr val="lt1"/>
                </a:highlight>
              </a:rPr>
              <a:t>What "stuff &amp; things" related to this activity would you like more help with?</a:t>
            </a:r>
            <a:endParaRPr b="1" sz="1500">
              <a:solidFill>
                <a:schemeClr val="dk1"/>
              </a:solidFill>
              <a:highlight>
                <a:schemeClr val="lt1"/>
              </a:highlight>
            </a:endParaRPr>
          </a:p>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highlight>
                  <a:schemeClr val="lt1"/>
                </a:highlight>
              </a:rPr>
              <a:t>We would like more help with secure authentication, deployment and hosting decisions, and designing future features such as in-app messaging and peer rating systems.</a:t>
            </a:r>
            <a:endParaRPr sz="900">
              <a:solidFill>
                <a:schemeClr val="dk1"/>
              </a:solidFill>
              <a:highlight>
                <a:schemeClr val="lt1"/>
              </a:highlight>
            </a:endParaRPr>
          </a:p>
          <a:p>
            <a:pPr indent="0" lvl="0" marL="0" marR="0" rtl="0" algn="l">
              <a:spcBef>
                <a:spcPts val="0"/>
              </a:spcBef>
              <a:spcAft>
                <a:spcPts val="0"/>
              </a:spcAft>
              <a:buClr>
                <a:srgbClr val="000000"/>
              </a:buClr>
              <a:buSzPts val="1300"/>
              <a:buFont typeface="Calibri"/>
              <a:buNone/>
            </a:pPr>
            <a:r>
              <a:t/>
            </a:r>
            <a:endParaRPr b="1" sz="16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p:nvPr/>
        </p:nvSpPr>
        <p:spPr>
          <a:xfrm>
            <a:off x="457200" y="2743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F64"/>
              </a:buClr>
              <a:buSzPts val="3200"/>
              <a:buFont typeface="Arial"/>
              <a:buNone/>
            </a:pPr>
            <a:r>
              <a:rPr b="1" i="0" lang="en-US" sz="3200" u="none" cap="none" strike="noStrike">
                <a:solidFill>
                  <a:srgbClr val="1A7F64"/>
                </a:solidFill>
                <a:latin typeface="Arial"/>
                <a:ea typeface="Arial"/>
                <a:cs typeface="Arial"/>
                <a:sym typeface="Arial"/>
              </a:rPr>
              <a:t>Next Steps</a:t>
            </a:r>
            <a:endParaRPr b="0" i="0" sz="3200" u="none" cap="none" strike="noStrike">
              <a:solidFill>
                <a:schemeClr val="dk1"/>
              </a:solidFill>
              <a:latin typeface="Calibri"/>
              <a:ea typeface="Calibri"/>
              <a:cs typeface="Calibri"/>
              <a:sym typeface="Calibri"/>
            </a:endParaRPr>
          </a:p>
        </p:txBody>
      </p:sp>
      <p:sp>
        <p:nvSpPr>
          <p:cNvPr id="124" name="Google Shape;124;p14"/>
          <p:cNvSpPr/>
          <p:nvPr/>
        </p:nvSpPr>
        <p:spPr>
          <a:xfrm>
            <a:off x="457200" y="1097280"/>
            <a:ext cx="8229600" cy="3566160"/>
          </a:xfrm>
          <a:prstGeom prst="rect">
            <a:avLst/>
          </a:prstGeom>
          <a:noFill/>
          <a:ln>
            <a:noFill/>
          </a:ln>
        </p:spPr>
        <p:txBody>
          <a:bodyPr anchorCtr="0" anchor="ctr" bIns="45700" lIns="91425" spcFirstLastPara="1" rIns="91425" wrap="square" tIns="45700">
            <a:noAutofit/>
          </a:bodyPr>
          <a:lstStyle/>
          <a:p>
            <a:pPr indent="-342900" lvl="0" marL="457200" rtl="0" algn="l">
              <a:lnSpc>
                <a:spcPct val="200000"/>
              </a:lnSpc>
              <a:spcBef>
                <a:spcPts val="1200"/>
              </a:spcBef>
              <a:spcAft>
                <a:spcPts val="0"/>
              </a:spcAft>
              <a:buSzPts val="1800"/>
              <a:buFont typeface="Calibri"/>
              <a:buChar char="●"/>
            </a:pPr>
            <a:r>
              <a:rPr b="1" lang="en-US" sz="1800">
                <a:latin typeface="Calibri"/>
                <a:ea typeface="Calibri"/>
                <a:cs typeface="Calibri"/>
                <a:sym typeface="Calibri"/>
              </a:rPr>
              <a:t>Replace the partial login flow with a secure authentication system.</a:t>
            </a:r>
            <a:endParaRPr b="1" sz="1800">
              <a:latin typeface="Calibri"/>
              <a:ea typeface="Calibri"/>
              <a:cs typeface="Calibri"/>
              <a:sym typeface="Calibri"/>
            </a:endParaRPr>
          </a:p>
          <a:p>
            <a:pPr indent="-342900" lvl="0" marL="457200" rtl="0" algn="l">
              <a:lnSpc>
                <a:spcPct val="200000"/>
              </a:lnSpc>
              <a:spcBef>
                <a:spcPts val="0"/>
              </a:spcBef>
              <a:spcAft>
                <a:spcPts val="0"/>
              </a:spcAft>
              <a:buSzPts val="1800"/>
              <a:buFont typeface="Calibri"/>
              <a:buChar char="●"/>
            </a:pPr>
            <a:r>
              <a:rPr b="1" lang="en-US" sz="1800">
                <a:latin typeface="Calibri"/>
                <a:ea typeface="Calibri"/>
                <a:cs typeface="Calibri"/>
                <a:sym typeface="Calibri"/>
              </a:rPr>
              <a:t>Add validation, stronger error handling, and cleaner UI feedback.</a:t>
            </a:r>
            <a:endParaRPr b="1" sz="1800">
              <a:latin typeface="Calibri"/>
              <a:ea typeface="Calibri"/>
              <a:cs typeface="Calibri"/>
              <a:sym typeface="Calibri"/>
            </a:endParaRPr>
          </a:p>
          <a:p>
            <a:pPr indent="-342900" lvl="0" marL="457200" rtl="0" algn="l">
              <a:lnSpc>
                <a:spcPct val="200000"/>
              </a:lnSpc>
              <a:spcBef>
                <a:spcPts val="0"/>
              </a:spcBef>
              <a:spcAft>
                <a:spcPts val="0"/>
              </a:spcAft>
              <a:buSzPts val="1800"/>
              <a:buFont typeface="Calibri"/>
              <a:buChar char="●"/>
            </a:pPr>
            <a:r>
              <a:rPr b="1" lang="en-US" sz="1800">
                <a:latin typeface="Calibri"/>
                <a:ea typeface="Calibri"/>
                <a:cs typeface="Calibri"/>
                <a:sym typeface="Calibri"/>
              </a:rPr>
              <a:t>Consider in-app messaging as a future enhancement.</a:t>
            </a:r>
            <a:endParaRPr b="1" sz="1800">
              <a:latin typeface="Calibri"/>
              <a:ea typeface="Calibri"/>
              <a:cs typeface="Calibri"/>
              <a:sym typeface="Calibri"/>
            </a:endParaRPr>
          </a:p>
          <a:p>
            <a:pPr indent="-342900" lvl="0" marL="457200" rtl="0" algn="l">
              <a:lnSpc>
                <a:spcPct val="200000"/>
              </a:lnSpc>
              <a:spcBef>
                <a:spcPts val="0"/>
              </a:spcBef>
              <a:spcAft>
                <a:spcPts val="0"/>
              </a:spcAft>
              <a:buSzPts val="1800"/>
              <a:buFont typeface="Calibri"/>
              <a:buChar char="●"/>
            </a:pPr>
            <a:r>
              <a:rPr b="1" lang="en-US" sz="1800">
                <a:latin typeface="Calibri"/>
                <a:ea typeface="Calibri"/>
                <a:cs typeface="Calibri"/>
                <a:sym typeface="Calibri"/>
              </a:rPr>
              <a:t>C</a:t>
            </a:r>
            <a:r>
              <a:rPr b="1" lang="en-US" sz="1800">
                <a:latin typeface="Calibri"/>
                <a:ea typeface="Calibri"/>
                <a:cs typeface="Calibri"/>
                <a:sym typeface="Calibri"/>
              </a:rPr>
              <a:t>onsider a peer rating or review system to improve trust and safety.</a:t>
            </a:r>
            <a:endParaRPr b="1" sz="1800">
              <a:latin typeface="Calibri"/>
              <a:ea typeface="Calibri"/>
              <a:cs typeface="Calibri"/>
              <a:sym typeface="Calibri"/>
            </a:endParaRPr>
          </a:p>
          <a:p>
            <a:pPr indent="-342900" lvl="0" marL="457200" rtl="0" algn="l">
              <a:lnSpc>
                <a:spcPct val="200000"/>
              </a:lnSpc>
              <a:spcBef>
                <a:spcPts val="0"/>
              </a:spcBef>
              <a:spcAft>
                <a:spcPts val="0"/>
              </a:spcAft>
              <a:buSzPts val="1800"/>
              <a:buFont typeface="Calibri"/>
              <a:buChar char="●"/>
            </a:pPr>
            <a:r>
              <a:rPr b="1" lang="en-US" sz="1800">
                <a:latin typeface="Calibri"/>
                <a:ea typeface="Calibri"/>
                <a:cs typeface="Calibri"/>
                <a:sym typeface="Calibri"/>
              </a:rPr>
              <a:t>Deploy the application when hosting resources become available.</a:t>
            </a:r>
            <a:endParaRPr b="1" sz="1800">
              <a:latin typeface="Calibri"/>
              <a:ea typeface="Calibri"/>
              <a:cs typeface="Calibri"/>
              <a:sym typeface="Calibri"/>
            </a:endParaRPr>
          </a:p>
          <a:p>
            <a:pPr indent="0" lvl="0" marL="457200" marR="0" rtl="0" algn="l">
              <a:spcBef>
                <a:spcPts val="1200"/>
              </a:spcBef>
              <a:spcAft>
                <a:spcPts val="0"/>
              </a:spcAft>
              <a:buNone/>
            </a:pPr>
            <a:r>
              <a:t/>
            </a:r>
            <a:endParaRPr b="1" sz="18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7F64"/>
        </a:solidFill>
      </p:bgPr>
    </p:bg>
    <p:spTree>
      <p:nvGrpSpPr>
        <p:cNvPr id="129" name="Shape 129"/>
        <p:cNvGrpSpPr/>
        <p:nvPr/>
      </p:nvGrpSpPr>
      <p:grpSpPr>
        <a:xfrm>
          <a:off x="0" y="0"/>
          <a:ext cx="0" cy="0"/>
          <a:chOff x="0" y="0"/>
          <a:chExt cx="0" cy="0"/>
        </a:xfrm>
      </p:grpSpPr>
      <p:sp>
        <p:nvSpPr>
          <p:cNvPr id="130" name="Google Shape;130;p15"/>
          <p:cNvSpPr/>
          <p:nvPr/>
        </p:nvSpPr>
        <p:spPr>
          <a:xfrm>
            <a:off x="457200" y="182880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a:t>
            </a:r>
            <a:endParaRPr b="0" i="0" sz="4800" u="none" cap="none" strike="noStrike">
              <a:solidFill>
                <a:schemeClr val="dk1"/>
              </a:solidFill>
              <a:latin typeface="Calibri"/>
              <a:ea typeface="Calibri"/>
              <a:cs typeface="Calibri"/>
              <a:sym typeface="Calibri"/>
            </a:endParaRPr>
          </a:p>
        </p:txBody>
      </p:sp>
      <p:sp>
        <p:nvSpPr>
          <p:cNvPr id="131" name="Google Shape;131;p15"/>
          <p:cNvSpPr/>
          <p:nvPr/>
        </p:nvSpPr>
        <p:spPr>
          <a:xfrm>
            <a:off x="457200" y="265176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Arial"/>
              <a:buNone/>
            </a:pPr>
            <a:r>
              <a:rPr b="0" i="0" lang="en-US" sz="3200" u="none" cap="none" strike="noStrike">
                <a:solidFill>
                  <a:srgbClr val="FFFFFF"/>
                </a:solidFill>
                <a:latin typeface="Arial"/>
                <a:ea typeface="Arial"/>
                <a:cs typeface="Arial"/>
                <a:sym typeface="Arial"/>
              </a:rPr>
              <a:t>Questions?</a:t>
            </a:r>
            <a:endParaRPr b="0" i="0" sz="3200" u="none" cap="none" strike="noStrike">
              <a:solidFill>
                <a:schemeClr val="dk1"/>
              </a:solidFill>
              <a:latin typeface="Calibri"/>
              <a:ea typeface="Calibri"/>
              <a:cs typeface="Calibri"/>
              <a:sym typeface="Calibri"/>
            </a:endParaRPr>
          </a:p>
        </p:txBody>
      </p:sp>
      <p:sp>
        <p:nvSpPr>
          <p:cNvPr id="132" name="Google Shape;132;p15"/>
          <p:cNvSpPr/>
          <p:nvPr/>
        </p:nvSpPr>
        <p:spPr>
          <a:xfrm>
            <a:off x="457200" y="365760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GitHub: github.com/thomaskeithpersson-afk/281-Group-Project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