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thomaskeithpersson-afk/281-Group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F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287700" y="1772625"/>
            <a:ext cx="65685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BOOKEXCHANGE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813205" y="3403175"/>
            <a:ext cx="551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Connecting Students. Saving Money. Reusing Books.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045452" y="4106755"/>
            <a:ext cx="3053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 </a:t>
            </a:r>
            <a:r>
              <a:rPr lang="en-US" sz="1200">
                <a:solidFill>
                  <a:srgbClr val="FFFFFF"/>
                </a:solidFill>
              </a:rPr>
              <a:t>281</a:t>
            </a: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| Project Pitch | January 28,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A7F64"/>
                </a:solidFill>
                <a:latin typeface="Georgia"/>
                <a:ea typeface="Georgia"/>
                <a:cs typeface="Georgia"/>
                <a:sym typeface="Georgia"/>
              </a:rPr>
              <a:t>Meet the Team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381000" y="2097435"/>
            <a:ext cx="1881187" cy="1729680"/>
          </a:xfrm>
          <a:prstGeom prst="roundRect">
            <a:avLst>
              <a:gd fmla="val 4405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09600" y="2326035"/>
            <a:ext cx="571500" cy="571500"/>
          </a:xfrm>
          <a:prstGeom prst="roundRect">
            <a:avLst>
              <a:gd fmla="val 160000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9600" y="3068985"/>
            <a:ext cx="14524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1D1D"/>
                </a:solidFill>
              </a:rPr>
              <a:t>Chop Peter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9600" y="3411885"/>
            <a:ext cx="145246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547938" y="2097435"/>
            <a:ext cx="1881187" cy="1729680"/>
          </a:xfrm>
          <a:prstGeom prst="roundRect">
            <a:avLst>
              <a:gd fmla="val 4405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776538" y="2326035"/>
            <a:ext cx="571500" cy="571500"/>
          </a:xfrm>
          <a:prstGeom prst="roundRect">
            <a:avLst>
              <a:gd fmla="val 160000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776551" y="3068975"/>
            <a:ext cx="1609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1D1D"/>
                </a:solidFill>
              </a:rPr>
              <a:t>Thomas Persson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776538" y="3411885"/>
            <a:ext cx="145246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714875" y="2097435"/>
            <a:ext cx="1881187" cy="1729680"/>
          </a:xfrm>
          <a:prstGeom prst="roundRect">
            <a:avLst>
              <a:gd fmla="val 4405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943475" y="2326035"/>
            <a:ext cx="571500" cy="571500"/>
          </a:xfrm>
          <a:prstGeom prst="roundRect">
            <a:avLst>
              <a:gd fmla="val 160000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943488" y="2897525"/>
            <a:ext cx="1609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1D1D"/>
                </a:solidFill>
              </a:rPr>
              <a:t>David James-Nwokocha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943475" y="3411885"/>
            <a:ext cx="145246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A5568"/>
                </a:solidFill>
              </a:rPr>
              <a:t>Developer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81813" y="2097435"/>
            <a:ext cx="1881187" cy="1729680"/>
          </a:xfrm>
          <a:prstGeom prst="roundRect">
            <a:avLst>
              <a:gd fmla="val 4405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110413" y="2326035"/>
            <a:ext cx="571500" cy="571500"/>
          </a:xfrm>
          <a:prstGeom prst="roundRect">
            <a:avLst>
              <a:gd fmla="val 160000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067550" y="3021350"/>
            <a:ext cx="177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1D1D"/>
                </a:solidFill>
              </a:rPr>
              <a:t>Muhammad Shami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081892" y="3411880"/>
            <a:ext cx="1452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A5568"/>
                </a:solidFill>
              </a:rPr>
              <a:t>Designer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A7F64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81000" y="70485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Why We Are Creating This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81000" y="1529953"/>
            <a:ext cx="2667000" cy="1203871"/>
          </a:xfrm>
          <a:prstGeom prst="roundRect">
            <a:avLst>
              <a:gd fmla="val 6330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1720453"/>
            <a:ext cx="2331720" cy="5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$1,200+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2356693"/>
            <a:ext cx="233172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yearly textbook cost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238500" y="1529953"/>
            <a:ext cx="2667000" cy="1203871"/>
          </a:xfrm>
          <a:prstGeom prst="roundRect">
            <a:avLst>
              <a:gd fmla="val 6330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406140" y="1720453"/>
            <a:ext cx="2331720" cy="5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10-20%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406140" y="2356693"/>
            <a:ext cx="233172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Bookstore buyback value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096000" y="1529953"/>
            <a:ext cx="2667000" cy="1203871"/>
          </a:xfrm>
          <a:prstGeom prst="roundRect">
            <a:avLst>
              <a:gd fmla="val 6330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263640" y="1720453"/>
            <a:ext cx="2331720" cy="5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263640" y="2356693"/>
            <a:ext cx="233172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Easy ways to connect students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81000" y="2924324"/>
            <a:ext cx="8382000" cy="1759744"/>
          </a:xfrm>
          <a:prstGeom prst="roundRect">
            <a:avLst>
              <a:gd fmla="val 4330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09600" y="3152924"/>
            <a:ext cx="8083296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Textbooks are expensive, $100 to $300 per book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09600" y="3507135"/>
            <a:ext cx="8083296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Students finish courses with books they no longer need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09600" y="3861346"/>
            <a:ext cx="8083296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Incoming students buy the same books at full price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09600" y="4215557"/>
            <a:ext cx="8083296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No easy, campus-specific way to connect buyers and sellers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A7F64"/>
                </a:solidFill>
                <a:latin typeface="Georgia"/>
                <a:ea typeface="Georgia"/>
                <a:cs typeface="Georgia"/>
                <a:sym typeface="Georgia"/>
              </a:rPr>
              <a:t>The Impact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381000" y="70485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A5568"/>
                </a:solidFill>
              </a:rPr>
              <a:t>How Book</a:t>
            </a: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Exchange Changes Reality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81000" y="1827758"/>
            <a:ext cx="3619500" cy="491430"/>
          </a:xfrm>
          <a:prstGeom prst="roundRect">
            <a:avLst>
              <a:gd fmla="val 15506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33400" y="1980158"/>
            <a:ext cx="338099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CURRENT REALITY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81000" y="2471589"/>
            <a:ext cx="3619500" cy="1914525"/>
          </a:xfrm>
          <a:prstGeom prst="roundRect">
            <a:avLst>
              <a:gd fmla="val 398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71500" y="2662089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Pay full price at bookstore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71500" y="2995464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Get only 10-20% back on sellback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71500" y="3328839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Books sit unused on shelves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71500" y="3662214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No connection between students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71500" y="3995589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Money leaves the campus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393781" y="2840236"/>
            <a:ext cx="3564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A7F64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143500" y="1827758"/>
            <a:ext cx="3619500" cy="491430"/>
          </a:xfrm>
          <a:prstGeom prst="roundRect">
            <a:avLst>
              <a:gd fmla="val 15506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295900" y="1980158"/>
            <a:ext cx="338099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NEW REALITY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143500" y="2471589"/>
            <a:ext cx="3619500" cy="1914525"/>
          </a:xfrm>
          <a:prstGeom prst="roundRect">
            <a:avLst>
              <a:gd fmla="val 398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334000" y="2662089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Save 30-70% buying from peers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334000" y="2995464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Get fair value when selling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334000" y="3328839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Books get reused, not wasted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334000" y="3662214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Students connect directly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334000" y="3995589"/>
            <a:ext cx="33032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Money stays in the community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A7F64"/>
                </a:solidFill>
                <a:latin typeface="Georgia"/>
                <a:ea typeface="Georgia"/>
                <a:cs typeface="Georgia"/>
                <a:sym typeface="Georgia"/>
              </a:rPr>
              <a:t>Who Is It For?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381000" y="70485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Our Target Audience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81000" y="1863179"/>
            <a:ext cx="2641550" cy="2487513"/>
          </a:xfrm>
          <a:prstGeom prst="roundRect">
            <a:avLst>
              <a:gd fmla="val 4595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09600" y="2091779"/>
            <a:ext cx="2228037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BUYERS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09600" y="2617440"/>
            <a:ext cx="2228037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Incoming students needing textbooks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09600" y="3085951"/>
            <a:ext cx="2228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Budget-conscious students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09600" y="3367832"/>
            <a:ext cx="2228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Anyone looking for deals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09600" y="3706862"/>
            <a:ext cx="2184350" cy="415230"/>
          </a:xfrm>
          <a:prstGeom prst="roundRect">
            <a:avLst>
              <a:gd fmla="val 13763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704342" y="3821162"/>
            <a:ext cx="199486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 30-70% on textbooks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251150" y="1863179"/>
            <a:ext cx="2641550" cy="2487513"/>
          </a:xfrm>
          <a:prstGeom prst="roundRect">
            <a:avLst>
              <a:gd fmla="val 4595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3479750" y="2091779"/>
            <a:ext cx="2228037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SELLERS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479750" y="2617440"/>
            <a:ext cx="2228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Students who finished courses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479750" y="2899321"/>
            <a:ext cx="2228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Graduating students clearing 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479750" y="3181201"/>
            <a:ext cx="2228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Anyone with unused textbooks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479750" y="3520232"/>
            <a:ext cx="2184350" cy="601861"/>
          </a:xfrm>
          <a:prstGeom prst="roundRect">
            <a:avLst>
              <a:gd fmla="val 9496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574493" y="3634532"/>
            <a:ext cx="199486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Get more than bookstore buyback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121301" y="1863179"/>
            <a:ext cx="2641550" cy="2487513"/>
          </a:xfrm>
          <a:prstGeom prst="roundRect">
            <a:avLst>
              <a:gd fmla="val 4595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349901" y="2091779"/>
            <a:ext cx="2228037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349901" y="2617440"/>
            <a:ext cx="2228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University of Regina campus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349901" y="2899321"/>
            <a:ext cx="2228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Local, in-person exchanges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349901" y="3181201"/>
            <a:ext cx="2228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Trusted campus community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349901" y="3520232"/>
            <a:ext cx="2184350" cy="601861"/>
          </a:xfrm>
          <a:prstGeom prst="roundRect">
            <a:avLst>
              <a:gd fmla="val 9496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444643" y="3634532"/>
            <a:ext cx="199486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 on campus, exchange safely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A7F64"/>
                </a:solidFill>
                <a:latin typeface="Georgia"/>
                <a:ea typeface="Georgia"/>
                <a:cs typeface="Georgia"/>
                <a:sym typeface="Georgia"/>
              </a:rPr>
              <a:t>What We Are Building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81000" y="70485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381000" y="1261021"/>
            <a:ext cx="8382000" cy="1028700"/>
          </a:xfrm>
          <a:prstGeom prst="roundRect">
            <a:avLst>
              <a:gd fmla="val 11111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30352" y="1489621"/>
            <a:ext cx="808329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web application where students can post textbooks for sale, browse listings, search by course code, and connect directly with other students.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381000" y="3121521"/>
            <a:ext cx="1981200" cy="1190179"/>
          </a:xfrm>
          <a:prstGeom prst="roundRect">
            <a:avLst>
              <a:gd fmla="val 6402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71500" y="3312021"/>
            <a:ext cx="163220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Post 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71500" y="3601492"/>
            <a:ext cx="1632204" cy="519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List textbooks with title, course code, condition, and price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514600" y="3208139"/>
            <a:ext cx="1981200" cy="1016943"/>
          </a:xfrm>
          <a:prstGeom prst="roundRect">
            <a:avLst>
              <a:gd fmla="val 7493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2705100" y="3398639"/>
            <a:ext cx="163220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Search and Browse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705100" y="3688110"/>
            <a:ext cx="1632204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Find books by course code or title instantly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648200" y="3208139"/>
            <a:ext cx="1981200" cy="1016943"/>
          </a:xfrm>
          <a:prstGeom prst="roundRect">
            <a:avLst>
              <a:gd fmla="val 7493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838700" y="3398639"/>
            <a:ext cx="163220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838700" y="3688110"/>
            <a:ext cx="1632204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View seller contact info and reach out directly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781800" y="3208139"/>
            <a:ext cx="1981200" cy="1016943"/>
          </a:xfrm>
          <a:prstGeom prst="roundRect">
            <a:avLst>
              <a:gd fmla="val 7493" name="adj"/>
            </a:avLst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972300" y="3398639"/>
            <a:ext cx="163220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972300" y="3688110"/>
            <a:ext cx="1632204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Edit, delete, or mark listings as sold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A7F64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381000" y="70485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Simple 4-Step 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81000" y="1785045"/>
            <a:ext cx="1981200" cy="731490"/>
          </a:xfrm>
          <a:prstGeom prst="roundRect">
            <a:avLst>
              <a:gd fmla="val 10417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16636" y="1937445"/>
            <a:ext cx="1709928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381000" y="2516535"/>
            <a:ext cx="1981200" cy="940743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33400" y="2668935"/>
            <a:ext cx="170992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Seller Posts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33400" y="2958405"/>
            <a:ext cx="1709928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Lists their textbook with details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2514600" y="1785045"/>
            <a:ext cx="1981200" cy="731490"/>
          </a:xfrm>
          <a:prstGeom prst="roundRect">
            <a:avLst>
              <a:gd fmla="val 10417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2650236" y="1937445"/>
            <a:ext cx="1709928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2514600" y="2516535"/>
            <a:ext cx="1981200" cy="940743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2667000" y="2668935"/>
            <a:ext cx="170992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Buyer Searches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2667000" y="2958405"/>
            <a:ext cx="170992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Finds books by course code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648200" y="1785045"/>
            <a:ext cx="1981200" cy="731490"/>
          </a:xfrm>
          <a:prstGeom prst="roundRect">
            <a:avLst>
              <a:gd fmla="val 10417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783836" y="1937445"/>
            <a:ext cx="1709928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648200" y="2516535"/>
            <a:ext cx="1981200" cy="940743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800600" y="2668935"/>
            <a:ext cx="170992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They Connect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800600" y="2958405"/>
            <a:ext cx="170992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Contact via email or phone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781800" y="1785045"/>
            <a:ext cx="1981200" cy="731490"/>
          </a:xfrm>
          <a:prstGeom prst="roundRect">
            <a:avLst>
              <a:gd fmla="val 10417" name="adj"/>
            </a:avLst>
          </a:prstGeom>
          <a:solidFill>
            <a:srgbClr val="1A7F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917436" y="1937445"/>
            <a:ext cx="1709928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781800" y="2516535"/>
            <a:ext cx="1981200" cy="940743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934200" y="2668935"/>
            <a:ext cx="170992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Exchange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934200" y="2958405"/>
            <a:ext cx="1709928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Meet on campus, swap book for cash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81000" y="3647777"/>
            <a:ext cx="8382000" cy="781050"/>
          </a:xfrm>
          <a:prstGeom prst="rect">
            <a:avLst/>
          </a:prstGeom>
          <a:solidFill>
            <a:srgbClr val="E8F0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9"/>
          <p:cNvCxnSpPr/>
          <p:nvPr/>
        </p:nvCxnSpPr>
        <p:spPr>
          <a:xfrm>
            <a:off x="400050" y="3647777"/>
            <a:ext cx="0" cy="781050"/>
          </a:xfrm>
          <a:prstGeom prst="straightConnector1">
            <a:avLst/>
          </a:prstGeom>
          <a:noFill/>
          <a:ln cap="flat" cmpd="sng" w="38100">
            <a:solidFill>
              <a:srgbClr val="1A7F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9"/>
          <p:cNvSpPr/>
          <p:nvPr/>
        </p:nvSpPr>
        <p:spPr>
          <a:xfrm>
            <a:off x="609600" y="3838277"/>
            <a:ext cx="812215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1125">
                <a:solidFill>
                  <a:srgbClr val="1D1D1D"/>
                </a:solidFill>
              </a:rPr>
              <a:t>Chop </a:t>
            </a: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finishes PSYC 101, posts </a:t>
            </a:r>
            <a:r>
              <a:rPr lang="en-US" sz="1125">
                <a:solidFill>
                  <a:srgbClr val="1D1D1D"/>
                </a:solidFill>
              </a:rPr>
              <a:t>his</a:t>
            </a: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$150 textbook for $60. </a:t>
            </a:r>
            <a:r>
              <a:rPr lang="en-US" sz="1125">
                <a:solidFill>
                  <a:srgbClr val="1D1D1D"/>
                </a:solidFill>
              </a:rPr>
              <a:t>Thomas</a:t>
            </a: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finds it, emails </a:t>
            </a:r>
            <a:r>
              <a:rPr lang="en-US" sz="1125">
                <a:solidFill>
                  <a:srgbClr val="1D1D1D"/>
                </a:solidFill>
              </a:rPr>
              <a:t>Chop</a:t>
            </a: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. They meet at the library. </a:t>
            </a:r>
            <a:r>
              <a:rPr lang="en-US" sz="1125">
                <a:solidFill>
                  <a:srgbClr val="1D1D1D"/>
                </a:solidFill>
              </a:rPr>
              <a:t>Thomas</a:t>
            </a: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saves $90, </a:t>
            </a:r>
            <a:r>
              <a:rPr lang="en-US" sz="1125">
                <a:solidFill>
                  <a:srgbClr val="1D1D1D"/>
                </a:solidFill>
              </a:rPr>
              <a:t>Chop</a:t>
            </a:r>
            <a:r>
              <a:rPr b="0" i="0" lang="en-US" sz="11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gets $60 instead of $25. Both win.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A7F64"/>
                </a:solidFill>
                <a:latin typeface="Georgia"/>
                <a:ea typeface="Georgia"/>
                <a:cs typeface="Georgia"/>
                <a:sym typeface="Georgia"/>
              </a:rPr>
              <a:t>Constraints and Scope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381000" y="70485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Working Within 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81000" y="1966020"/>
            <a:ext cx="2641550" cy="415230"/>
          </a:xfrm>
          <a:prstGeom prst="roundRect">
            <a:avLst>
              <a:gd fmla="val 1835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95300" y="2080320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81000" y="2533650"/>
            <a:ext cx="2641550" cy="1714202"/>
          </a:xfrm>
          <a:prstGeom prst="roundRect">
            <a:avLst>
              <a:gd fmla="val 4445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71500" y="2724150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Time: Limited development window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71500" y="3044130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Tech: First project for the team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71500" y="3364111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Budget: $0, free tools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71500" y="3684091"/>
            <a:ext cx="2305761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Storage: Browser-based LocalStorage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251150" y="1937445"/>
            <a:ext cx="2641550" cy="415230"/>
          </a:xfrm>
          <a:prstGeom prst="roundRect">
            <a:avLst>
              <a:gd fmla="val 18351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365450" y="2051745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IN SCOPE (MVP)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3251150" y="2505075"/>
            <a:ext cx="2641550" cy="1771352"/>
          </a:xfrm>
          <a:prstGeom prst="roundRect">
            <a:avLst>
              <a:gd fmla="val 4302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441650" y="2695575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Post book listings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441650" y="2996505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Browse all listings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441650" y="3297436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Search by course or title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3441650" y="3598366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View listing details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441650" y="3899297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Edit, delete, mark sold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121301" y="1937445"/>
            <a:ext cx="2641550" cy="415230"/>
          </a:xfrm>
          <a:prstGeom prst="roundRect">
            <a:avLst>
              <a:gd fmla="val 1835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235601" y="2051745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OUT OF SCOPE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121301" y="2505075"/>
            <a:ext cx="2641550" cy="1771352"/>
          </a:xfrm>
          <a:prstGeom prst="roundRect">
            <a:avLst>
              <a:gd fmla="val 4302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311801" y="2695575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User accounts and login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311801" y="2996505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In-app messaging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311801" y="3297436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Payment 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311801" y="3598366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Ratings and reviews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311801" y="3899297"/>
            <a:ext cx="2305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Push notifications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F6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3197410" y="1289745"/>
            <a:ext cx="27490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3883871" y="2710833"/>
            <a:ext cx="13761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2067526" y="3339405"/>
            <a:ext cx="500894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BookExchange — Connecting Students. Saving Money. Reusing Books.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2067526" y="3666976"/>
            <a:ext cx="500894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lang="en-US" sz="11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thomaskeithpersson-afk/281-Group-Project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